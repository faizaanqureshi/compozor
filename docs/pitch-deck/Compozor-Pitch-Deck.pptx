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7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43"/>
    <p:restoredTop sz="94610"/>
  </p:normalViewPr>
  <p:slideViewPr>
    <p:cSldViewPr snapToGrid="0" snapToObjects="1">
      <p:cViewPr>
        <p:scale>
          <a:sx n="98" d="100"/>
          <a:sy n="98" d="100"/>
        </p:scale>
        <p:origin x="-129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882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8.svg"/><Relationship Id="rId7" Type="http://schemas.openxmlformats.org/officeDocument/2006/relationships/image" Target="../media/image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e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e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e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eg"/><Relationship Id="rId4" Type="http://schemas.openxmlformats.org/officeDocument/2006/relationships/image" Target="../media/image3.png"/><Relationship Id="rId5" Type="http://schemas.openxmlformats.org/officeDocument/2006/relationships/image" Target="../media/image17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e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Relationship Id="rId7" Type="http://schemas.openxmlformats.org/officeDocument/2006/relationships/image" Target="../media/image12.png"/><Relationship Id="rId8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21.svg"/><Relationship Id="rId6" Type="http://schemas.openxmlformats.org/officeDocument/2006/relationships/image" Target="../media/image22.svg"/><Relationship Id="rId7" Type="http://schemas.openxmlformats.org/officeDocument/2006/relationships/image" Target="../media/image23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eg"/><Relationship Id="rId4" Type="http://schemas.openxmlformats.org/officeDocument/2006/relationships/image" Target="../media/image16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Relationship Id="rId7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eg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ashariq-Documents-compozor/f909eb66-a755-4c5e-9082-737c2558d0c2/scratchpad/pitch-deck/assets/mark-gold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8778240" y="-1463040"/>
            <a:ext cx="4754880" cy="4754880"/>
          </a:xfrm>
          <a:prstGeom prst="rect">
            <a:avLst/>
          </a:prstGeom>
        </p:spPr>
      </p:pic>
      <p:pic>
        <p:nvPicPr>
          <p:cNvPr id="3" name="Image 1" descr="/private/tmp/claude-501/-Users-ashariq-Documents-compozor/f909eb66-a755-4c5e-9082-737c2558d0c2/scratchpad/pitch-deck/assets/logo-full-iv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02920"/>
            <a:ext cx="1417320" cy="3657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40080" y="1828800"/>
            <a:ext cx="1965960" cy="347472"/>
          </a:xfrm>
          <a:prstGeom prst="roundRect">
            <a:avLst>
              <a:gd name="adj" fmla="val 50000"/>
            </a:avLst>
          </a:prstGeom>
          <a:ln w="12700">
            <a:solidFill>
              <a:srgbClr val="9C94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 txBox="1"/>
          <p:nvPr/>
        </p:nvSpPr>
        <p:spPr>
          <a:xfrm>
            <a:off x="640080" y="18288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INTAKE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2788920" y="1828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C9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accounting &amp; professional-services firms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233172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ED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chasing clients.</a:t>
            </a:r>
            <a:endParaRPr lang="en-US" sz="3400" dirty="0"/>
          </a:p>
          <a:p>
            <a:pPr marL="0" indent="0">
              <a:buNone/>
            </a:pPr>
            <a:r>
              <a:rPr lang="en-US" sz="3400" dirty="0">
                <a:solidFill>
                  <a:srgbClr val="ED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send the follow-up.</a:t>
            </a:r>
            <a:endParaRPr lang="en-US" sz="34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9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[Sept 2026]</a:t>
            </a:r>
            <a:endParaRPr lang="en-US" sz="1200" dirty="0"/>
          </a:p>
        </p:txBody>
      </p:sp>
      <p:pic>
        <p:nvPicPr>
          <p:cNvPr id="9" name="Image 2" descr="/private/tmp/claude-501/-Users-ashariq-Documents-compozor/f909eb66-a755-4c5e-9082-737c2558d0c2/scratchpad/pitch-deck/assets/ui-card-crop.png"/>
          <p:cNvPicPr>
            <a:picLocks noChangeAspect="1"/>
          </p:cNvPicPr>
          <p:nvPr/>
        </p:nvPicPr>
        <p:blipFill>
          <a:blip r:embed="rId6"/>
          <a:srcRect l="640" t="1728" r="823"/>
          <a:stretch>
            <a:fillRect/>
          </a:stretch>
        </p:blipFill>
        <p:spPr>
          <a:xfrm>
            <a:off x="6126480" y="1597793"/>
            <a:ext cx="5202455" cy="40071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9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12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document chasing is eating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12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team's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383280" cy="3063240"/>
          </a:xfrm>
          <a:prstGeom prst="roundRect">
            <a:avLst>
              <a:gd name="adj" fmla="val 3582"/>
            </a:avLst>
          </a:prstGeom>
          <a:solidFill>
            <a:srgbClr val="FDFBF3"/>
          </a:solidFill>
          <a:ln w="12700">
            <a:solidFill>
              <a:srgbClr val="E0D8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960120" y="3703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2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 per client, every season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343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spend their week in back-and-forth email, chasing what's still missing.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2331720"/>
            <a:ext cx="3383280" cy="3063240"/>
          </a:xfrm>
          <a:prstGeom prst="roundRect">
            <a:avLst>
              <a:gd name="adj" fmla="val 3582"/>
            </a:avLst>
          </a:prstGeom>
          <a:solidFill>
            <a:srgbClr val="FDFBF3"/>
          </a:solidFill>
          <a:ln w="12700">
            <a:solidFill>
              <a:srgbClr val="E0D8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4709160" y="3703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2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by hand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4343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incoming file gets cross-checked against the list manually, one at a time.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2331720"/>
            <a:ext cx="3383280" cy="3063240"/>
          </a:xfrm>
          <a:prstGeom prst="roundRect">
            <a:avLst>
              <a:gd name="adj" fmla="val 3582"/>
            </a:avLst>
          </a:prstGeom>
          <a:solidFill>
            <a:srgbClr val="FDFBF3"/>
          </a:solidFill>
          <a:ln w="12700">
            <a:solidFill>
              <a:srgbClr val="E0D8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 txBox="1"/>
          <p:nvPr/>
        </p:nvSpPr>
        <p:spPr>
          <a:xfrm>
            <a:off x="8458200" y="3703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2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in the inbox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4343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attachments, quiet clients, and missed replies fall through the cracks.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2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not that your team isn't capable - it's that the process doesn't scale.</a:t>
            </a:r>
            <a:endParaRPr lang="en-US" sz="1500" dirty="0"/>
          </a:p>
        </p:txBody>
      </p:sp>
      <p:pic>
        <p:nvPicPr>
          <p:cNvPr id="20" name="Image 3" descr="/private/tmp/claude-501/-Users-ashariq-Documents-compozor/f909eb66-a755-4c5e-9082-737c2558d0c2/scratchpad/pitch-deck/assets/logo-full-dark.png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640080" y="6400800"/>
            <a:ext cx="1051560" cy="27157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13</a:t>
            </a:r>
            <a:endParaRPr lang="en-US" sz="900" dirty="0"/>
          </a:p>
        </p:txBody>
      </p:sp>
      <p:pic>
        <p:nvPicPr>
          <p:cNvPr id="23" name="Graphic 22" descr="Stopwatch 75% with solid fill">
            <a:extLst>
              <a:ext uri="{FF2B5EF4-FFF2-40B4-BE49-F238E27FC236}">
                <a16:creationId xmlns:a16="http://schemas.microsoft.com/office/drawing/2014/main" id="{C37E2F9B-7A8C-DA7C-1AE3-E9910C64C6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91640" y="2587993"/>
            <a:ext cx="914400" cy="914400"/>
          </a:xfrm>
          <a:prstGeom prst="rect">
            <a:avLst/>
          </a:prstGeom>
        </p:spPr>
      </p:pic>
      <p:pic>
        <p:nvPicPr>
          <p:cNvPr id="27" name="Graphic 26" descr="Pinch Zoom Out with solid fill">
            <a:extLst>
              <a:ext uri="{FF2B5EF4-FFF2-40B4-BE49-F238E27FC236}">
                <a16:creationId xmlns:a16="http://schemas.microsoft.com/office/drawing/2014/main" id="{409E73F3-01E7-585F-497C-EA3740145D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40680" y="2590399"/>
            <a:ext cx="914400" cy="914400"/>
          </a:xfrm>
          <a:prstGeom prst="rect">
            <a:avLst/>
          </a:prstGeom>
        </p:spPr>
      </p:pic>
      <p:pic>
        <p:nvPicPr>
          <p:cNvPr id="29" name="Graphic 28" descr="Inbox Cross with solid fill">
            <a:extLst>
              <a:ext uri="{FF2B5EF4-FFF2-40B4-BE49-F238E27FC236}">
                <a16:creationId xmlns:a16="http://schemas.microsoft.com/office/drawing/2014/main" id="{ABA4D509-4367-2D94-0308-41A54AE1D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46268" y="2587993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ashariq-Documents-compozor/f909eb66-a755-4c5e-9082-737c2558d0c2/scratchpad/pitch-deck/assets/mark-gold.png"/>
          <p:cNvPicPr>
            <a:picLocks noChangeAspect="1"/>
          </p:cNvPicPr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9418320" y="356616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188720"/>
            <a:ext cx="9875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ED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Compozor turns document collection into a system your firm can rely on - not a task your staff has to babysit.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280160" y="5212080"/>
            <a:ext cx="8869680" cy="0"/>
          </a:xfrm>
          <a:prstGeom prst="line">
            <a:avLst/>
          </a:prstGeom>
          <a:noFill/>
          <a:ln w="19050">
            <a:solidFill>
              <a:srgbClr val="2F4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" y="5074920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91440" y="5468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008120" y="5074920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3230880" y="5468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147560" y="5074920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370320" y="5468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0287000" y="5074920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9509760" y="5468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300" dirty="0"/>
          </a:p>
        </p:txBody>
      </p:sp>
      <p:pic>
        <p:nvPicPr>
          <p:cNvPr id="14" name="Image 1" descr="/private/tmp/claude-501/-Users-ashariq-Documents-compozor/f909eb66-a755-4c5e-9082-737c2558d0c2/scratchpad/pitch-deck/assets/logo-full-ivory.png"/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640080" y="6400800"/>
            <a:ext cx="1051560" cy="27157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9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12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workflow, start to finish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0" cy="3566160"/>
          </a:xfrm>
          <a:prstGeom prst="line">
            <a:avLst/>
          </a:prstGeom>
          <a:noFill/>
          <a:ln w="19050">
            <a:solidFill>
              <a:srgbClr val="E0D8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1220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set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190195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firm defines exactly what's needed, per client.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633472"/>
            <a:ext cx="548640" cy="548640"/>
          </a:xfrm>
          <a:prstGeom prst="ellipse">
            <a:avLst/>
          </a:prstGeom>
          <a:solidFill>
            <a:srgbClr val="1220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587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emailed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61518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Compozor sends the request automatically — no manual send.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346704"/>
            <a:ext cx="548640" cy="548640"/>
          </a:xfrm>
          <a:prstGeom prst="ellipse">
            <a:avLst/>
          </a:prstGeom>
          <a:solidFill>
            <a:srgbClr val="1220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346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3009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replies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332841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arrive whenever the client is ready to send them.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059935"/>
            <a:ext cx="548640" cy="548640"/>
          </a:xfrm>
          <a:prstGeom prst="ellipse">
            <a:avLst/>
          </a:prstGeom>
          <a:solidFill>
            <a:srgbClr val="1220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405993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014215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reviews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404164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is classified, verified as genuine, and matched to the checklist.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773168"/>
            <a:ext cx="548640" cy="548640"/>
          </a:xfrm>
          <a:prstGeom prst="ellipse">
            <a:avLst/>
          </a:prstGeom>
          <a:solidFill>
            <a:srgbClr val="1220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40080" y="4773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727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297680" y="4754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automatically; a complete set downloads as one zip.</a:t>
            </a:r>
            <a:endParaRPr lang="en-US" sz="1250" dirty="0"/>
          </a:p>
        </p:txBody>
      </p:sp>
      <p:pic>
        <p:nvPicPr>
          <p:cNvPr id="25" name="Image 0" descr="/private/tmp/claude-501/-Users-ashariq-Documents-compozor/f909eb66-a755-4c5e-9082-737c2558d0c2/scratchpad/pitch-deck/assets/logo-full-dark.png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640080" y="6400800"/>
            <a:ext cx="1051560" cy="271577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13</a:t>
            </a:r>
            <a:endParaRPr lang="en-US" sz="900" dirty="0"/>
          </a:p>
        </p:txBody>
      </p:sp>
      <p:sp>
        <p:nvSpPr>
          <p:cNvPr id="27" name="Oval 26"/>
          <p:cNvSpPr/>
          <p:nvPr/>
        </p:nvSpPr>
        <p:spPr>
          <a:xfrm>
            <a:off x="640080" y="5486400"/>
            <a:ext cx="548640" cy="548640"/>
          </a:xfrm>
          <a:prstGeom prst="ellipse">
            <a:avLst/>
          </a:prstGeom>
          <a:solidFill>
            <a:srgbClr val="122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4864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EDE6D6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440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22023"/>
                </a:solidFill>
                <a:latin typeface="Cambria"/>
              </a:rPr>
              <a:t>Workflows 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468112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>
                <a:solidFill>
                  <a:srgbClr val="6E6A5C"/>
                </a:solidFill>
                <a:latin typeface="Calibri"/>
              </a:rPr>
              <a:t>The data is reconciled, formatted, and unified automatically — exactly as your workflow defines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9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12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emails that sound</a:t>
            </a:r>
            <a:endParaRPr lang="en-US" sz="2700" dirty="0"/>
          </a:p>
          <a:p>
            <a:pPr marL="0" indent="0">
              <a:buNone/>
            </a:pPr>
            <a:r>
              <a:rPr lang="en-US" sz="2700" dirty="0">
                <a:solidFill>
                  <a:srgbClr val="12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 your firm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633472"/>
            <a:ext cx="82296" cy="82296"/>
          </a:xfrm>
          <a:prstGeom prst="ellipse">
            <a:avLst/>
          </a:prstGeom>
          <a:solidFill>
            <a:srgbClr val="A982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423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2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checklist requests go out automatically — no one has to remember to send them.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685032"/>
            <a:ext cx="82296" cy="82296"/>
          </a:xfrm>
          <a:prstGeom prst="ellipse">
            <a:avLst/>
          </a:prstGeom>
          <a:solidFill>
            <a:srgbClr val="A982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3474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2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who go quiet get re-reminded on their own, without staff tracking who's overdue.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736592"/>
            <a:ext cx="82296" cy="82296"/>
          </a:xfrm>
          <a:prstGeom prst="ellipse">
            <a:avLst/>
          </a:prstGeom>
          <a:solidFill>
            <a:srgbClr val="A982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14400" y="45262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2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AI-drafted email can be reviewed before sending — or sent automatically once you trust it.</a:t>
            </a:r>
            <a:endParaRPr lang="en-US" sz="1300" dirty="0"/>
          </a:p>
        </p:txBody>
      </p:sp>
      <p:pic>
        <p:nvPicPr>
          <p:cNvPr id="20" name="Image 0" descr="/private/tmp/claude-501/-Users-ashariq-Documents-compozor/f909eb66-a755-4c5e-9082-737c2558d0c2/scratchpad/pitch-deck/assets/logo-full-dark.png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640080" y="6400800"/>
            <a:ext cx="1051560" cy="27157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13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0DC2A51-EE85-48BE-994D-CCA92F1301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973514"/>
            <a:ext cx="6083782" cy="25527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9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12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doesn't just flag problems — it fixes them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is classified, verified as genuine, and matched to the right checklist item. If something's wrong, Compozor emails the client back automatically — explaining exactly why — and keeps at it until the right file arrives.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514600" cy="3383280"/>
          </a:xfrm>
          <a:prstGeom prst="roundRect">
            <a:avLst>
              <a:gd name="adj" fmla="val 4364"/>
            </a:avLst>
          </a:prstGeom>
          <a:solidFill>
            <a:srgbClr val="FDFBF3"/>
          </a:solidFill>
          <a:ln w="12700">
            <a:solidFill>
              <a:srgbClr val="E0D8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31620" y="2926080"/>
            <a:ext cx="731520" cy="731520"/>
          </a:xfrm>
          <a:prstGeom prst="ellipse">
            <a:avLst/>
          </a:prstGeom>
          <a:solidFill>
            <a:srgbClr val="1220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private/tmp/claude-501/-Users-ashariq-Documents-compozor/f909eb66-a755-4c5e-9082-737c2558d0c2/scratchpad/pitch-deck/icons/mail-iv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9130" y="3123590"/>
            <a:ext cx="336499" cy="33649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41248" y="3840480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arrives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4663440"/>
            <a:ext cx="2112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replies with an attachment, any time.</a:t>
            </a:r>
            <a:endParaRPr lang="en-US" sz="1050" dirty="0"/>
          </a:p>
        </p:txBody>
      </p:sp>
      <p:pic>
        <p:nvPicPr>
          <p:cNvPr id="10" name="Image 1" descr="/private/tmp/claude-501/-Users-ashariq-Documents-compozor/f909eb66-a755-4c5e-9082-737c2558d0c2/scratchpad/pitch-deck/icons/arrow-right-teal.png"/>
          <p:cNvPicPr>
            <a:picLocks noChangeAspect="1"/>
          </p:cNvPicPr>
          <p:nvPr/>
        </p:nvPicPr>
        <p:blipFill>
          <a:blip r:embed="rId5">
            <a:alphaModFix amt="75000"/>
          </a:blip>
          <a:stretch>
            <a:fillRect/>
          </a:stretch>
        </p:blipFill>
        <p:spPr>
          <a:xfrm>
            <a:off x="3182112" y="4187952"/>
            <a:ext cx="219456" cy="219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29000" y="2606040"/>
            <a:ext cx="2514600" cy="3383280"/>
          </a:xfrm>
          <a:prstGeom prst="roundRect">
            <a:avLst>
              <a:gd name="adj" fmla="val 4364"/>
            </a:avLst>
          </a:prstGeom>
          <a:solidFill>
            <a:srgbClr val="FDFBF3"/>
          </a:solidFill>
          <a:ln w="12700">
            <a:solidFill>
              <a:srgbClr val="E0D8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320540" y="2926080"/>
            <a:ext cx="731520" cy="731520"/>
          </a:xfrm>
          <a:prstGeom prst="ellipse">
            <a:avLst/>
          </a:prstGeom>
          <a:solidFill>
            <a:srgbClr val="1220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/private/tmp/claude-501/-Users-ashariq-Documents-compozor/f909eb66-a755-4c5e-9082-737c2558d0c2/scratchpad/pitch-deck/icons/file-text-iv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8050" y="3123590"/>
            <a:ext cx="336499" cy="33649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30168" y="3840480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reviews it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3630168" y="4663440"/>
            <a:ext cx="2112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Classified, verified as genuine, matched to the checklist.</a:t>
            </a:r>
            <a:endParaRPr lang="en-US" sz="1050" dirty="0"/>
          </a:p>
        </p:txBody>
      </p:sp>
      <p:pic>
        <p:nvPicPr>
          <p:cNvPr id="16" name="Image 3" descr="/private/tmp/claude-501/-Users-ashariq-Documents-compozor/f909eb66-a755-4c5e-9082-737c2558d0c2/scratchpad/pitch-deck/icons/arrow-right-teal.png"/>
          <p:cNvPicPr>
            <a:picLocks noChangeAspect="1"/>
          </p:cNvPicPr>
          <p:nvPr/>
        </p:nvPicPr>
        <p:blipFill>
          <a:blip r:embed="rId5">
            <a:alphaModFix amt="75000"/>
          </a:blip>
          <a:stretch>
            <a:fillRect/>
          </a:stretch>
        </p:blipFill>
        <p:spPr>
          <a:xfrm>
            <a:off x="5971032" y="4187952"/>
            <a:ext cx="219456" cy="21945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217920" y="2606040"/>
            <a:ext cx="2514600" cy="3383280"/>
          </a:xfrm>
          <a:prstGeom prst="roundRect">
            <a:avLst>
              <a:gd name="adj" fmla="val 4364"/>
            </a:avLst>
          </a:prstGeom>
          <a:solidFill>
            <a:srgbClr val="FDFBF3"/>
          </a:solidFill>
          <a:ln w="12700">
            <a:solidFill>
              <a:srgbClr val="E0D8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7109460" y="2926080"/>
            <a:ext cx="731520" cy="731520"/>
          </a:xfrm>
          <a:prstGeom prst="ellipse">
            <a:avLst/>
          </a:prstGeom>
          <a:solidFill>
            <a:srgbClr val="A982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/private/tmp/claude-501/-Users-ashariq-Documents-compozor/f909eb66-a755-4c5e-9082-737c2558d0c2/scratchpad/pitch-deck/icons/refresh-cw-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6970" y="3123590"/>
            <a:ext cx="336499" cy="336499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419088" y="3840480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Wrong? Auto-corrected</a:t>
            </a:r>
            <a:endParaRPr lang="en-US" sz="1450" dirty="0"/>
          </a:p>
        </p:txBody>
      </p:sp>
      <p:sp>
        <p:nvSpPr>
          <p:cNvPr id="21" name="Text 14"/>
          <p:cNvSpPr txBox="1"/>
          <p:nvPr/>
        </p:nvSpPr>
        <p:spPr>
          <a:xfrm>
            <a:off x="6419088" y="4663440"/>
            <a:ext cx="2112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gets an email explaining exactly why, and what to send instead. Repeats automatically.</a:t>
            </a:r>
            <a:endParaRPr lang="en-US" sz="1050" dirty="0"/>
          </a:p>
        </p:txBody>
      </p:sp>
      <p:pic>
        <p:nvPicPr>
          <p:cNvPr id="22" name="Image 5" descr="/private/tmp/claude-501/-Users-ashariq-Documents-compozor/f909eb66-a755-4c5e-9082-737c2558d0c2/scratchpad/pitch-deck/icons/arrow-right-teal.png"/>
          <p:cNvPicPr>
            <a:picLocks noChangeAspect="1"/>
          </p:cNvPicPr>
          <p:nvPr/>
        </p:nvPicPr>
        <p:blipFill>
          <a:blip r:embed="rId5">
            <a:alphaModFix amt="75000"/>
          </a:blip>
          <a:stretch>
            <a:fillRect/>
          </a:stretch>
        </p:blipFill>
        <p:spPr>
          <a:xfrm>
            <a:off x="8759952" y="4187952"/>
            <a:ext cx="219456" cy="219456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006840" y="2606040"/>
            <a:ext cx="2514600" cy="3383280"/>
          </a:xfrm>
          <a:prstGeom prst="roundRect">
            <a:avLst>
              <a:gd name="adj" fmla="val 4364"/>
            </a:avLst>
          </a:prstGeom>
          <a:solidFill>
            <a:srgbClr val="FBEFEE"/>
          </a:solidFill>
          <a:ln w="12700">
            <a:solidFill>
              <a:srgbClr val="7A2A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6"/>
          <p:cNvSpPr/>
          <p:nvPr/>
        </p:nvSpPr>
        <p:spPr>
          <a:xfrm>
            <a:off x="9898380" y="2926080"/>
            <a:ext cx="731520" cy="731520"/>
          </a:xfrm>
          <a:prstGeom prst="ellipse">
            <a:avLst/>
          </a:prstGeom>
          <a:solidFill>
            <a:srgbClr val="7A2A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6" descr="/private/tmp/claude-501/-Users-ashariq-Documents-compozor/f909eb66-a755-4c5e-9082-737c2558d0c2/scratchpad/pitch-deck/icons/alert-circle-ivo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5890" y="3123590"/>
            <a:ext cx="336499" cy="336499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9208008" y="3840480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7A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wrong the 3rd time</a:t>
            </a:r>
            <a:endParaRPr lang="en-US" sz="1450" dirty="0"/>
          </a:p>
        </p:txBody>
      </p:sp>
      <p:sp>
        <p:nvSpPr>
          <p:cNvPr id="27" name="Text 18"/>
          <p:cNvSpPr txBox="1"/>
          <p:nvPr/>
        </p:nvSpPr>
        <p:spPr>
          <a:xfrm>
            <a:off x="9208008" y="4663440"/>
            <a:ext cx="2112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to your team, with the full history attached.</a:t>
            </a:r>
            <a:endParaRPr lang="en-US" sz="1050" dirty="0"/>
          </a:p>
        </p:txBody>
      </p:sp>
      <p:pic>
        <p:nvPicPr>
          <p:cNvPr id="28" name="Image 7" descr="/private/tmp/claude-501/-Users-ashariq-Documents-compozor/f909eb66-a755-4c5e-9082-737c2558d0c2/scratchpad/pitch-deck/assets/logo-full-dark.png"/>
          <p:cNvPicPr>
            <a:picLocks noChangeAspect="1"/>
          </p:cNvPicPr>
          <p:nvPr/>
        </p:nvPicPr>
        <p:blipFill>
          <a:blip r:embed="rId9">
            <a:alphaModFix amt="85000"/>
          </a:blip>
          <a:stretch>
            <a:fillRect/>
          </a:stretch>
        </p:blipFill>
        <p:spPr>
          <a:xfrm>
            <a:off x="640080" y="6400800"/>
            <a:ext cx="1051560" cy="271577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dirty="0">
                <a:solidFill>
                  <a:srgbClr val="ED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click.</a:t>
            </a:r>
            <a:endParaRPr lang="en-US" sz="4200" dirty="0"/>
          </a:p>
          <a:p>
            <a:pPr marL="0" indent="0">
              <a:buNone/>
            </a:pPr>
            <a:r>
              <a:rPr lang="en-US" sz="4200" dirty="0">
                <a:solidFill>
                  <a:srgbClr val="ED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organized.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8C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every checklist item is received and verified, the complete set is ready — no more digging through an inbox. Download the whole client file as a single zip.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0" y="2286000"/>
            <a:ext cx="2194560" cy="21945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/private/tmp/claude-501/-Users-ashariq-Documents-compozor/f909eb66-a755-4c5e-9082-737c2558d0c2/scratchpad/pitch-deck/assets/logo-full-ivory.png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640080" y="6400800"/>
            <a:ext cx="1051560" cy="27157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13</a:t>
            </a:r>
            <a:endParaRPr lang="en-US" sz="900" dirty="0"/>
          </a:p>
        </p:txBody>
      </p:sp>
      <p:pic>
        <p:nvPicPr>
          <p:cNvPr id="10" name="Graphic 9" descr="Download with solid fill">
            <a:extLst>
              <a:ext uri="{FF2B5EF4-FFF2-40B4-BE49-F238E27FC236}">
                <a16:creationId xmlns:a16="http://schemas.microsoft.com/office/drawing/2014/main" id="{6F357206-BF7C-A28D-DF83-D6B5EB31AD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6691" y="2505891"/>
            <a:ext cx="1754777" cy="17547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9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04 — WHAT HAPPENS 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2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decide what happens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2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the documents arrive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2316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“Once everything's in, then what?”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answer it - describe what you want done, in plain language, and Compozor does it once a client's documents are complete.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050792"/>
            <a:ext cx="82296" cy="82296"/>
          </a:xfrm>
          <a:prstGeom prst="ellipse">
            <a:avLst/>
          </a:prstGeom>
          <a:solidFill>
            <a:srgbClr val="A982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38587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transaction CSV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507992"/>
            <a:ext cx="82296" cy="82296"/>
          </a:xfrm>
          <a:prstGeom prst="ellipse">
            <a:avLst/>
          </a:prstGeom>
          <a:solidFill>
            <a:srgbClr val="A982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14400" y="4315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reconciliation check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965192"/>
            <a:ext cx="82296" cy="82296"/>
          </a:xfrm>
          <a:prstGeom prst="ellipse">
            <a:avLst/>
          </a:prstGeom>
          <a:solidFill>
            <a:srgbClr val="A982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14400" y="4773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the engagement lead</a:t>
            </a:r>
            <a:endParaRPr lang="en-US" sz="1300" dirty="0"/>
          </a:p>
        </p:txBody>
      </p:sp>
      <p:pic>
        <p:nvPicPr>
          <p:cNvPr id="17" name="Image 0" descr="/private/tmp/claude-501/-Users-ashariq-Documents-compozor/f909eb66-a755-4c5e-9082-737c2558d0c2/scratchpad/pitch-deck/assets/logo-full-dark.png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640080" y="6400800"/>
            <a:ext cx="1051560" cy="271577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13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0A58C93-8142-F981-E24F-98ACA30196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188720"/>
            <a:ext cx="5577179" cy="41210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ED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view of every client,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ED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day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146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8C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gives the accountant a quick read on where every client stands the moment they sit down each morning — who's complete, who's missing documents, who needs attention.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0" y="2331720"/>
            <a:ext cx="2377440" cy="1600200"/>
          </a:xfrm>
          <a:prstGeom prst="roundRect">
            <a:avLst>
              <a:gd name="adj" fmla="val 5714"/>
            </a:avLst>
          </a:prstGeom>
          <a:solidFill>
            <a:srgbClr val="17262A"/>
          </a:solidFill>
          <a:ln w="12700">
            <a:solidFill>
              <a:srgbClr val="2F4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656832" y="2587752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private/tmp/claude-501/-Users-ashariq-Documents-compozor/f909eb66-a755-4c5e-9082-737c2558d0c2/scratchpad/pitch-deck/icons/check-circle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620" y="2723540"/>
            <a:ext cx="231343" cy="23134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656832" y="32278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656832" y="35387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9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the accountant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9052560" y="2331720"/>
            <a:ext cx="2377440" cy="1600200"/>
          </a:xfrm>
          <a:prstGeom prst="roundRect">
            <a:avLst>
              <a:gd name="adj" fmla="val 5714"/>
            </a:avLst>
          </a:prstGeom>
          <a:solidFill>
            <a:srgbClr val="17262A"/>
          </a:solidFill>
          <a:ln w="12700">
            <a:solidFill>
              <a:srgbClr val="2F4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308592" y="2587752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private/tmp/claude-501/-Users-ashariq-Documents-compozor/f909eb66-a755-4c5e-9082-737c2558d0c2/scratchpad/pitch-deck/icons/users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4380" y="2723540"/>
            <a:ext cx="231343" cy="23134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308592" y="32278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progress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9308592" y="35387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9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still coming in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400800" y="4206240"/>
            <a:ext cx="2377440" cy="1600200"/>
          </a:xfrm>
          <a:prstGeom prst="roundRect">
            <a:avLst>
              <a:gd name="adj" fmla="val 5714"/>
            </a:avLst>
          </a:prstGeom>
          <a:solidFill>
            <a:srgbClr val="17262A"/>
          </a:solidFill>
          <a:ln w="12700">
            <a:solidFill>
              <a:srgbClr val="2F4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656832" y="4462272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private/tmp/claude-501/-Users-ashariq-Documents-compozor/f909eb66-a755-4c5e-9082-737c2558d0c2/scratchpad/pitch-deck/icons/alert-circle-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2620" y="4598060"/>
            <a:ext cx="231343" cy="23134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56832" y="51023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attention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656832" y="54132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9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for a human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9052560" y="4206240"/>
            <a:ext cx="2377440" cy="1600200"/>
          </a:xfrm>
          <a:prstGeom prst="roundRect">
            <a:avLst>
              <a:gd name="adj" fmla="val 5714"/>
            </a:avLst>
          </a:prstGeom>
          <a:solidFill>
            <a:srgbClr val="17262A"/>
          </a:solidFill>
          <a:ln w="12700">
            <a:solidFill>
              <a:srgbClr val="2F4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9308592" y="4462272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/private/tmp/claude-501/-Users-ashariq-Documents-compozor/f909eb66-a755-4c5e-9082-737c2558d0c2/scratchpad/pitch-deck/icons/mail-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4380" y="4598060"/>
            <a:ext cx="231343" cy="23134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308592" y="51023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Awaiting client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9308592" y="54132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9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already sent</a:t>
            </a:r>
            <a:endParaRPr lang="en-US" sz="950" dirty="0"/>
          </a:p>
        </p:txBody>
      </p:sp>
      <p:sp>
        <p:nvSpPr>
          <p:cNvPr id="25" name="Text 19"/>
          <p:cNvSpPr txBox="1"/>
          <p:nvPr/>
        </p:nvSpPr>
        <p:spPr>
          <a:xfrm>
            <a:off x="6400800" y="5943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— IN DESIGN</a:t>
            </a:r>
            <a:endParaRPr lang="en-US" sz="900" dirty="0"/>
          </a:p>
        </p:txBody>
      </p:sp>
      <p:pic>
        <p:nvPicPr>
          <p:cNvPr id="26" name="Image 4" descr="/private/tmp/claude-501/-Users-ashariq-Documents-compozor/f909eb66-a755-4c5e-9082-737c2558d0c2/scratchpad/pitch-deck/assets/logo-full-ivory.png"/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640080" y="6400800"/>
            <a:ext cx="1051560" cy="27157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9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CONTROL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12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that works for you - never around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383280" cy="3063240"/>
          </a:xfrm>
          <a:prstGeom prst="roundRect">
            <a:avLst>
              <a:gd name="adj" fmla="val 3582"/>
            </a:avLst>
          </a:prstGeom>
          <a:solidFill>
            <a:srgbClr val="FDFBF3"/>
          </a:solidFill>
          <a:ln w="12700">
            <a:solidFill>
              <a:srgbClr val="E0D8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960120" y="37033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set the automation level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480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automation, medium, or high — every firm chooses how much runs on its own.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2331720"/>
            <a:ext cx="3383280" cy="3063240"/>
          </a:xfrm>
          <a:prstGeom prst="roundRect">
            <a:avLst>
              <a:gd name="adj" fmla="val 3582"/>
            </a:avLst>
          </a:prstGeom>
          <a:solidFill>
            <a:srgbClr val="FDFBF3"/>
          </a:solidFill>
          <a:ln w="12700">
            <a:solidFill>
              <a:srgbClr val="E0D8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4709160" y="37033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review by default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4480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firms start with every AI-drafted email needing a click to send.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2331720"/>
            <a:ext cx="3383280" cy="3063240"/>
          </a:xfrm>
          <a:prstGeom prst="roundRect">
            <a:avLst>
              <a:gd name="adj" fmla="val 3582"/>
            </a:avLst>
          </a:prstGeom>
          <a:solidFill>
            <a:srgbClr val="FDFBF3"/>
          </a:solidFill>
          <a:ln w="12700">
            <a:solidFill>
              <a:srgbClr val="E0D8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 txBox="1"/>
          <p:nvPr/>
        </p:nvSpPr>
        <p:spPr>
          <a:xfrm>
            <a:off x="8458200" y="37033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Escalation, not silence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4480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issues — a wrong document, an unanswerable question — go to a human, with full context, instead of stalling quietly.</a:t>
            </a:r>
            <a:endParaRPr lang="en-US" sz="1200" dirty="0"/>
          </a:p>
        </p:txBody>
      </p:sp>
      <p:pic>
        <p:nvPicPr>
          <p:cNvPr id="19" name="Image 3" descr="/private/tmp/claude-501/-Users-ashariq-Documents-compozor/f909eb66-a755-4c5e-9082-737c2558d0c2/scratchpad/pitch-deck/assets/logo-full-dark.png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640080" y="6400800"/>
            <a:ext cx="1051560" cy="27157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13</a:t>
            </a:r>
            <a:endParaRPr lang="en-US" sz="900" dirty="0"/>
          </a:p>
        </p:txBody>
      </p:sp>
      <p:pic>
        <p:nvPicPr>
          <p:cNvPr id="22" name="Graphic 21" descr="Robot Hand with solid fill">
            <a:extLst>
              <a:ext uri="{FF2B5EF4-FFF2-40B4-BE49-F238E27FC236}">
                <a16:creationId xmlns:a16="http://schemas.microsoft.com/office/drawing/2014/main" id="{980E5A18-A7AF-B4CC-1442-BEB3FB3944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76549" y="2628900"/>
            <a:ext cx="914400" cy="914400"/>
          </a:xfrm>
          <a:prstGeom prst="rect">
            <a:avLst/>
          </a:prstGeom>
        </p:spPr>
      </p:pic>
      <p:pic>
        <p:nvPicPr>
          <p:cNvPr id="24" name="Graphic 23" descr="Boardroom with solid fill">
            <a:extLst>
              <a:ext uri="{FF2B5EF4-FFF2-40B4-BE49-F238E27FC236}">
                <a16:creationId xmlns:a16="http://schemas.microsoft.com/office/drawing/2014/main" id="{B38566BD-768E-04B7-FAFA-D0D53D6394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3560" y="2651760"/>
            <a:ext cx="914400" cy="914400"/>
          </a:xfrm>
          <a:prstGeom prst="rect">
            <a:avLst/>
          </a:prstGeom>
        </p:spPr>
      </p:pic>
      <p:pic>
        <p:nvPicPr>
          <p:cNvPr id="26" name="Graphic 25" descr="Share with solid fill">
            <a:extLst>
              <a:ext uri="{FF2B5EF4-FFF2-40B4-BE49-F238E27FC236}">
                <a16:creationId xmlns:a16="http://schemas.microsoft.com/office/drawing/2014/main" id="{24979806-3F72-BAC7-BA2D-00F165B7E7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72600" y="2592977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ED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savings come from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17262A"/>
          </a:solidFill>
          <a:ln w="12700">
            <a:solidFill>
              <a:srgbClr val="2F4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2560320"/>
            <a:ext cx="777240" cy="7772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private/tmp/claude-501/-Users-ashariq-Documents-compozor/f909eb66-a755-4c5e-9082-737c2558d0c2/scratchpad/pitch-deck/icons/clock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695" y="2770175"/>
            <a:ext cx="357530" cy="3575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D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hours reclaimed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160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C9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spent manually chasing, checking, and re-sending the same requests.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21945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17262A"/>
          </a:solidFill>
          <a:ln w="12700">
            <a:solidFill>
              <a:srgbClr val="2F4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54880" y="2560320"/>
            <a:ext cx="777240" cy="7772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private/tmp/claude-501/-Users-ashariq-Documents-compozor/f909eb66-a755-4c5e-9082-737c2558d0c2/scratchpad/pitch-deck/icons/trending-up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4735" y="2770175"/>
            <a:ext cx="357530" cy="3575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9160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D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clients, same headcount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4160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C9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overhead per client drops, so capacity grows without hiring.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21945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17262A"/>
          </a:solidFill>
          <a:ln w="12700">
            <a:solidFill>
              <a:srgbClr val="2F4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503920" y="2560320"/>
            <a:ext cx="777240" cy="7772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private/tmp/claude-501/-Users-ashariq-Documents-compozor/f909eb66-a755-4c5e-9082-737c2558d0c2/scratchpad/pitch-deck/icons/users-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3775" y="2770175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58200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D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turnaround, peak season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4160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C9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move through the pipeline without waiting on a free staff hour.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8C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savings depend on client volume and your current process — worth working through your own numbers together.</a:t>
            </a:r>
            <a:endParaRPr lang="en-US" sz="1250" dirty="0"/>
          </a:p>
        </p:txBody>
      </p:sp>
      <p:pic>
        <p:nvPicPr>
          <p:cNvPr id="20" name="Image 3" descr="/private/tmp/claude-501/-Users-ashariq-Documents-compozor/f909eb66-a755-4c5e-9082-737c2558d0c2/scratchpad/pitch-deck/assets/logo-full-ivory.png"/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640080" y="6400800"/>
            <a:ext cx="1051560" cy="27157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98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COMPOZOR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12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how firms actually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EAE3D2"/>
          </a:solidFill>
          <a:ln w="12700">
            <a:solidFill>
              <a:srgbClr val="E0D8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80760" y="1965960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1220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080760" y="1965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COMPOZOR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9631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clients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43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emails, easy to forget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2743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requests + reminders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5120640" cy="0"/>
          </a:xfrm>
          <a:prstGeom prst="line">
            <a:avLst/>
          </a:prstGeom>
          <a:noFill/>
          <a:ln w="9525">
            <a:solidFill>
              <a:srgbClr val="E0D8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80760" y="3172968"/>
            <a:ext cx="5120640" cy="0"/>
          </a:xfrm>
          <a:prstGeom prst="line">
            <a:avLst/>
          </a:prstGeom>
          <a:noFill/>
          <a:ln w="9525">
            <a:solidFill>
              <a:srgbClr val="E0D8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324612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documents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9300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item by item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349300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classifies &amp; verifies automatically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922776"/>
            <a:ext cx="5120640" cy="0"/>
          </a:xfrm>
          <a:prstGeom prst="line">
            <a:avLst/>
          </a:prstGeom>
          <a:noFill/>
          <a:ln w="9525">
            <a:solidFill>
              <a:srgbClr val="E0D8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80760" y="3922776"/>
            <a:ext cx="5120640" cy="0"/>
          </a:xfrm>
          <a:prstGeom prst="line">
            <a:avLst/>
          </a:prstGeom>
          <a:noFill/>
          <a:ln w="9525">
            <a:solidFill>
              <a:srgbClr val="E0D8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399592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document arrives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24281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staff member re-emails the client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424281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Auto-corrected — up to twice, then escalated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672584"/>
            <a:ext cx="5120640" cy="0"/>
          </a:xfrm>
          <a:prstGeom prst="line">
            <a:avLst/>
          </a:prstGeom>
          <a:noFill/>
          <a:ln w="9525">
            <a:solidFill>
              <a:srgbClr val="E0D8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80760" y="4672584"/>
            <a:ext cx="5120640" cy="0"/>
          </a:xfrm>
          <a:prstGeom prst="line">
            <a:avLst/>
          </a:prstGeom>
          <a:noFill/>
          <a:ln w="9525">
            <a:solidFill>
              <a:srgbClr val="E0D8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40080" y="474573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documents arrive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99262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hoc, inconsistent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080760" y="499262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workflows, your rules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422392"/>
            <a:ext cx="5120640" cy="0"/>
          </a:xfrm>
          <a:prstGeom prst="line">
            <a:avLst/>
          </a:prstGeom>
          <a:noFill/>
          <a:ln w="9525">
            <a:solidFill>
              <a:srgbClr val="E0D8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80760" y="5422392"/>
            <a:ext cx="5120640" cy="0"/>
          </a:xfrm>
          <a:prstGeom prst="line">
            <a:avLst/>
          </a:prstGeom>
          <a:noFill/>
          <a:ln w="9525">
            <a:solidFill>
              <a:srgbClr val="E0D8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40080" y="549554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status check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7424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Digging through inboxes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080760" y="57424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view</a:t>
            </a:r>
            <a:endParaRPr lang="en-US" sz="1200" dirty="0"/>
          </a:p>
        </p:txBody>
      </p:sp>
      <p:pic>
        <p:nvPicPr>
          <p:cNvPr id="31" name="Image 0" descr="/private/tmp/claude-501/-Users-ashariq-Documents-compozor/f909eb66-a755-4c5e-9082-737c2558d0c2/scratchpad/pitch-deck/assets/logo-full-dark.png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640080" y="6400800"/>
            <a:ext cx="1051560" cy="271577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ashariq-Documents-compozor/f909eb66-a755-4c5e-9082-737c2558d0c2/scratchpad/pitch-deck/assets/mark-gold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-1188720" y="2103120"/>
            <a:ext cx="4754880" cy="4754880"/>
          </a:xfrm>
          <a:prstGeom prst="rect">
            <a:avLst/>
          </a:prstGeom>
        </p:spPr>
      </p:pic>
      <p:pic>
        <p:nvPicPr>
          <p:cNvPr id="3" name="Image 1" descr="/private/tmp/claude-501/-Users-ashariq-Documents-compozor/f909eb66-a755-4c5e-9082-737c2558d0c2/scratchpad/pitch-deck/assets/logo-full-iv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02920"/>
            <a:ext cx="1417320" cy="3657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78308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ED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Pilot</a:t>
            </a:r>
            <a:endParaRPr lang="en-US" sz="4000" dirty="0"/>
          </a:p>
        </p:txBody>
      </p:sp>
      <p:sp>
        <p:nvSpPr>
          <p:cNvPr id="6" name="Shape 2"/>
          <p:cNvSpPr/>
          <p:nvPr/>
        </p:nvSpPr>
        <p:spPr>
          <a:xfrm>
            <a:off x="640080" y="365760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64008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188720" y="36758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425196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64008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4270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checklists &amp; workflows together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484632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64008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88720" y="4864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run for a season, then decide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9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[Name]  ·  [email]  ·  [phone]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870</Words>
  <Application>Microsoft Macintosh PowerPoint</Application>
  <PresentationFormat>Widescreen</PresentationFormat>
  <Paragraphs>150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 Shariq</cp:lastModifiedBy>
  <cp:revision>2</cp:revision>
  <dcterms:created xsi:type="dcterms:W3CDTF">2026-09-18T20:55:54Z</dcterms:created>
  <dcterms:modified xsi:type="dcterms:W3CDTF">2026-09-19T02:37:51Z</dcterms:modified>
</cp:coreProperties>
</file>